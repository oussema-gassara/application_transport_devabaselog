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c6091c087e4ccc" /><Relationship Type="http://schemas.openxmlformats.org/officeDocument/2006/relationships/extended-properties" Target="/docProps/app.xml" Id="R414ed2aedcfa4945" /><Relationship Type="http://schemas.openxmlformats.org/officeDocument/2006/relationships/officeDocument" Target="/ppt/presentation.xml" Id="R476bb55fb6b74b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d2d123cbcf4355"/>
  </p:sldMasterIdLst>
  <p:notesMasterIdLst>
    <p:notesMasterId xmlns:r="http://schemas.openxmlformats.org/officeDocument/2006/relationships" r:id="Rd947725428be4a46"/>
  </p:notesMasterIdLst>
  <p:sldIdLst>
    <p:sldId xmlns:r="http://schemas.openxmlformats.org/officeDocument/2006/relationships" id="256" r:id="R2c335b0171b04afe"/>
    <p:sldId xmlns:r="http://schemas.openxmlformats.org/officeDocument/2006/relationships" id="257" r:id="R6e5fad7073d24eb6"/>
    <p:sldId xmlns:r="http://schemas.openxmlformats.org/officeDocument/2006/relationships" id="258" r:id="R907331d9de6b44e2"/>
    <p:sldId xmlns:r="http://schemas.openxmlformats.org/officeDocument/2006/relationships" id="259" r:id="R7df63ac8d1b443ea"/>
    <p:sldId xmlns:r="http://schemas.openxmlformats.org/officeDocument/2006/relationships" id="260" r:id="R6e6f82e1e6d74c0d"/>
    <p:sldId xmlns:r="http://schemas.openxmlformats.org/officeDocument/2006/relationships" id="261" r:id="R378f9c129e2449d3"/>
    <p:sldId xmlns:r="http://schemas.openxmlformats.org/officeDocument/2006/relationships" id="262" r:id="Rb243bfaf55234f3f"/>
    <p:sldId xmlns:r="http://schemas.openxmlformats.org/officeDocument/2006/relationships" id="263" r:id="R93fabb5272b94d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d846453f714497" /><Relationship Type="http://schemas.openxmlformats.org/officeDocument/2006/relationships/slideMaster" Target="/ppt/slideMasters/slideMaster1.xml" Id="Rd7d2d123cbcf4355" /><Relationship Type="http://schemas.openxmlformats.org/officeDocument/2006/relationships/notesMaster" Target="/ppt/notesMasters/notesMaster1.xml" Id="Rd947725428be4a46" /><Relationship Type="http://schemas.openxmlformats.org/officeDocument/2006/relationships/presProps" Target="/ppt/presProps.xml" Id="R472b973a1855471d" /><Relationship Type="http://schemas.openxmlformats.org/officeDocument/2006/relationships/tableStyles" Target="/ppt/tableStyles.xml" Id="R64b31d6185634737" /><Relationship Type="http://schemas.openxmlformats.org/officeDocument/2006/relationships/slide" Target="/ppt/slides/slide1.xml" Id="R2c335b0171b04afe" /><Relationship Type="http://schemas.openxmlformats.org/officeDocument/2006/relationships/slide" Target="/ppt/slides/slide2.xml" Id="R6e5fad7073d24eb6" /><Relationship Type="http://schemas.openxmlformats.org/officeDocument/2006/relationships/slide" Target="/ppt/slides/slide3.xml" Id="R907331d9de6b44e2" /><Relationship Type="http://schemas.openxmlformats.org/officeDocument/2006/relationships/slide" Target="/ppt/slides/slide4.xml" Id="R7df63ac8d1b443ea" /><Relationship Type="http://schemas.openxmlformats.org/officeDocument/2006/relationships/slide" Target="/ppt/slides/slide5.xml" Id="R6e6f82e1e6d74c0d" /><Relationship Type="http://schemas.openxmlformats.org/officeDocument/2006/relationships/slide" Target="/ppt/slides/slide6.xml" Id="R378f9c129e2449d3" /><Relationship Type="http://schemas.openxmlformats.org/officeDocument/2006/relationships/slide" Target="/ppt/slides/slide7.xml" Id="Rb243bfaf55234f3f" /><Relationship Type="http://schemas.openxmlformats.org/officeDocument/2006/relationships/slide" Target="/ppt/slides/slide8.xml" Id="R93fabb5272b94d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dcf071050e44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4025c701244f58" /><Relationship Type="http://schemas.openxmlformats.org/officeDocument/2006/relationships/notesMaster" Target="/ppt/notesMasters/notesMaster1.xml" Id="R2681cf26090e41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e805b72d3c4289" /><Relationship Type="http://schemas.openxmlformats.org/officeDocument/2006/relationships/notesMaster" Target="/ppt/notesMasters/notesMaster1.xml" Id="Rfefa8e2f3ba341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d41b2a593a44c5" /><Relationship Type="http://schemas.openxmlformats.org/officeDocument/2006/relationships/notesMaster" Target="/ppt/notesMasters/notesMaster1.xml" Id="Rf0d82f38bc764b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7e750265654bbb" /><Relationship Type="http://schemas.openxmlformats.org/officeDocument/2006/relationships/notesMaster" Target="/ppt/notesMasters/notesMaster1.xml" Id="Rec6d223b75d048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350ad764f1478b" /><Relationship Type="http://schemas.openxmlformats.org/officeDocument/2006/relationships/notesMaster" Target="/ppt/notesMasters/notesMaster1.xml" Id="R045ced20753a4c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79b00951094e32" /><Relationship Type="http://schemas.openxmlformats.org/officeDocument/2006/relationships/notesMaster" Target="/ppt/notesMasters/notesMaster1.xml" Id="Ra68d51dd5fcc44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d4d85709c341c0" /><Relationship Type="http://schemas.openxmlformats.org/officeDocument/2006/relationships/notesMaster" Target="/ppt/notesMasters/notesMaster1.xml" Id="R5bfd92226ec743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226b4ae75f4b37" /><Relationship Type="http://schemas.openxmlformats.org/officeDocument/2006/relationships/notesMaster" Target="/ppt/notesMasters/notesMaster1.xml" Id="Rf15df90cee154c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 officiel Node.js : https://nodejs.org/en/about/branding</a:t>
            </a:r>
          </a:p>
          <a:p xmlns:a="http://schemas.openxmlformats.org/drawingml/2006/main">
            <a:r>
              <a:t>Projet : application de réservation et de gestion du transport.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officielles : https://nodejs.org/en/learn/getting-started/introduction-to-nodejs</a:t>
            </a:r>
          </a:p>
          <a:p xmlns:a="http://schemas.openxmlformats.org/drawingml/2006/main">
            <a:r>
              <a:t>https://nodejs.org/en/about</a:t>
            </a:r>
          </a:p>
          <a:p xmlns:a="http://schemas.openxmlformats.org/drawingml/2006/main">
            <a:r>
              <a:t>Version v26.5.1 observée dans l’environnement du projet le 22/10/2026.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officielle : https://nodejs.org/en/learn/asynchronous-work/event-loop-timers-and-nexttick</a:t>
            </a:r>
          </a:p>
          <a:p xmlns:a="http://schemas.openxmlformats.org/drawingml/2006/main">
            <a:r>
              <a:t>Node.js utilise une boucle d’événements pour coordonner les callbacks et les opérations d’entrée-sortie non bloquantes.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du projet : https://github.com/oussema-gassara/application_transport_devabaselog/blob/sprint-1-nodejs/backend/package.json</a:t>
            </a:r>
          </a:p>
          <a:p xmlns:a="http://schemas.openxmlformats.org/drawingml/2006/main">
            <a:r>
              <a:t>Option --watch : https://nodejs.org/api/cli.html#--watch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issue du cahier des charges fourni : client Web/Desktop, API Node.js/Express sous Windows et base de données sur Ubuntu Server.</a:t>
            </a:r>
          </a:p>
          <a:p xmlns:a="http://schemas.openxmlformats.org/drawingml/2006/main">
            <a:r>
              <a:t>Le choix PostgreSQL correspond à la recommandation retenue pour le projet.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du code : https://github.com/oussema-gassara/application_transport_devabaselog/blob/sprint-1-nodejs/backend/src/app.js</a:t>
            </a:r>
          </a:p>
          <a:p xmlns:a="http://schemas.openxmlformats.org/drawingml/2006/main">
            <a:r>
              <a:t>La route renvoie un horodatage ISO généré au moment de la requête.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Résultat du test fourni par Oussema Gassara le 22/10/2026.</a:t>
            </a:r>
          </a:p>
          <a:p xmlns:a="http://schemas.openxmlformats.org/drawingml/2006/main">
            <a:r>
              <a:t>Commande : Invoke-RestMethod http://localhost:3000/api/health</a:t>
            </a:r>
          </a:p>
          <a:p xmlns:a="http://schemas.openxmlformats.org/drawingml/2006/main">
            <a:r>
              <a:t>Audit npm observé : found 0 vulnerabilities.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du suivi Scrum : https://github.com/oussema-gassara/application_transport_devabaselog/blob/sprint-1-nodejs/docs/scrum/sprint-01.md</a:t>
            </a:r>
          </a:p>
          <a:p xmlns:a="http://schemas.openxmlformats.org/drawingml/2006/main">
            <a:r>
              <a:t>Une fois le fichier ajouté au dépôt, la tâche S1-T7 peut passer à Terminé.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a1123f0e14a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a78cf33bd47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882c7435c45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ae3a2cd0b49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6b963b1de47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4ba0b46034a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AC6D2F-5533-41E1-81C3-40A66ED54A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8369676-4D3B-49BE-8519-AB4DE468F2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AA6E63-F475-4FF2-A417-6CCFCB88D9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E7FB59-7FE9-45BD-A848-4AF5195A48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585A0A-AA46-460A-87AA-3ED0575C98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61F858-67BA-4D01-A1A2-9D97AC1A11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05A7DD-DC20-40CC-8FBB-B07B2E1D9D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FC0CB6-CF86-4AA4-8B68-7F29CC2CA8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111FD3-267D-47AE-9239-3303213985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22D466-AA7E-4F16-BA80-48C8A54E04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6cb0e814134185" /><Relationship Type="http://schemas.openxmlformats.org/officeDocument/2006/relationships/slideLayout" Target="/ppt/slideLayouts/slideLayout1.xml" Id="R0b5ac4a161414bc7" /><Relationship Type="http://schemas.openxmlformats.org/officeDocument/2006/relationships/slideLayout" Target="/ppt/slideLayouts/slideLayout2.xml" Id="Ra0e80f92bcdb44f9" /><Relationship Type="http://schemas.openxmlformats.org/officeDocument/2006/relationships/slideLayout" Target="/ppt/slideLayouts/slideLayout3.xml" Id="R37c93d6a66f34e59" /><Relationship Type="http://schemas.openxmlformats.org/officeDocument/2006/relationships/slideLayout" Target="/ppt/slideLayouts/slideLayout4.xml" Id="R9eab13011d5341c4" /><Relationship Type="http://schemas.openxmlformats.org/officeDocument/2006/relationships/slideLayout" Target="/ppt/slideLayouts/slideLayout5.xml" Id="Ra60d4a9d17cc4f39" /><Relationship Type="http://schemas.openxmlformats.org/officeDocument/2006/relationships/slideLayout" Target="/ppt/slideLayouts/slideLayout6.xml" Id="Rdd924b0c0672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5ac4a161414bc7"/>
    <p:sldLayoutId xmlns:r="http://schemas.openxmlformats.org/officeDocument/2006/relationships" id="2147483650" r:id="Ra0e80f92bcdb44f9"/>
    <p:sldLayoutId xmlns:r="http://schemas.openxmlformats.org/officeDocument/2006/relationships" id="2147483651" r:id="R37c93d6a66f34e59"/>
    <p:sldLayoutId xmlns:r="http://schemas.openxmlformats.org/officeDocument/2006/relationships" id="2147483652" r:id="R9eab13011d5341c4"/>
    <p:sldLayoutId xmlns:r="http://schemas.openxmlformats.org/officeDocument/2006/relationships" id="2147483653" r:id="Ra60d4a9d17cc4f39"/>
    <p:sldLayoutId xmlns:r="http://schemas.openxmlformats.org/officeDocument/2006/relationships" id="2147483654" r:id="Rdd924b0c0672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dae7c017b4d1a" /><Relationship Type="http://schemas.openxmlformats.org/officeDocument/2006/relationships/image" Target="/ppt/media/image.png" Id="R533ed296c08f4f71" /><Relationship Type="http://schemas.openxmlformats.org/officeDocument/2006/relationships/notesSlide" Target="/ppt/notesSlides/notesSlide1.xml" Id="Ra3d440ae520445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7f9218d0a46a1" /><Relationship Type="http://schemas.openxmlformats.org/officeDocument/2006/relationships/notesSlide" Target="/ppt/notesSlides/notesSlide2.xml" Id="R82b1f19efba344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14ba60e124518" /><Relationship Type="http://schemas.openxmlformats.org/officeDocument/2006/relationships/notesSlide" Target="/ppt/notesSlides/notesSlide3.xml" Id="R8e0e5d237bb141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e4b4979a74d0d" /><Relationship Type="http://schemas.openxmlformats.org/officeDocument/2006/relationships/notesSlide" Target="/ppt/notesSlides/notesSlide4.xml" Id="R5fdd62af917045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b17945df842e6" /><Relationship Type="http://schemas.openxmlformats.org/officeDocument/2006/relationships/notesSlide" Target="/ppt/notesSlides/notesSlide5.xml" Id="Rdeb684db9b1342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227157d7b249a4" /><Relationship Type="http://schemas.openxmlformats.org/officeDocument/2006/relationships/notesSlide" Target="/ppt/notesSlides/notesSlide6.xml" Id="R8dc019217f404f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18d1034ed4984" /><Relationship Type="http://schemas.openxmlformats.org/officeDocument/2006/relationships/notesSlide" Target="/ppt/notesSlides/notesSlide7.xml" Id="R4c4b47b186224f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0b2c9546ff4b74" /><Relationship Type="http://schemas.openxmlformats.org/officeDocument/2006/relationships/notesSlide" Target="/ppt/notesSlides/notesSlide8.xml" Id="Ra0a2a1dd96a046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1B8C204-9794-4A91-9071-31D5BEC8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0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258645B-7A47-4E36-9139-C8105904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Node.js dans</a:t>
            </a:r>
          </a:p>
          <a:p xmlns:a="http://schemas.openxmlformats.org/drawingml/2006/main">
            <a:pPr algn="l">
              <a:def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l’application de transport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2B5C0FC-4E09-442A-ABB0-32EE3C4F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76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Fonctionnement, rôle dans l’architecture et démonstration de l’API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14BB6-D0D9-423D-98B0-FF431228F7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ed296c08f4f71"/>
          <a:stretch xmlns:a="http://schemas.openxmlformats.org/drawingml/2006/main"/>
        </p:blipFill>
        <p:spPr>
          <a:xfrm xmlns:a="http://schemas.openxmlformats.org/drawingml/2006/main">
            <a:off x="8229600" y="1810321"/>
            <a:ext cx="3048000" cy="913258"/>
          </a:xfrm>
          <a:prstGeom xmlns:a="http://schemas.openxmlformats.org/drawingml/2006/main" prst="rect">
            <a:avLst/>
          </a:prstGeom>
        </p:spPr>
      </p:pic>
      <p:sp>
        <p:nvSpPr>
          <p:cNvPr id="5" name="cover-endpoint">
            <a:extLst xmlns:a="http://schemas.openxmlformats.org/drawingml/2006/main">
              <a:ext uri="{FF2B5EF4-FFF2-40B4-BE49-F238E27FC236}">
                <a16:creationId xmlns:a16="http://schemas.microsoft.com/office/drawing/2014/main" id="{B2546D84-30DA-4572-A929-8AB475E0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43250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rPr>
              <a:t>GET /api/health</a:t>
            </a:r>
          </a:p>
        </p:txBody>
      </p:sp>
      <p:sp>
        <p:nvSpPr>
          <p:cNvPr id="6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BA1EC4B2-F765-4884-A759-673E8B5B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33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Oussema Gassara</a:t>
            </a:r>
          </a:p>
          <a:p xmlns:a="http://schemas.openxmlformats.org/drawingml/2006/main">
            <a:pPr algn="l">
              <a:def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Licence GLSI · ISSAT Mateur</a:t>
            </a:r>
          </a:p>
          <a:p xmlns:a="http://schemas.openxmlformats.org/drawingml/2006/main">
            <a:pPr algn="l">
              <a:def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Année universitaire 2026–2027</a:t>
            </a:r>
          </a:p>
        </p:txBody>
      </p:sp>
      <p:sp>
        <p:nvSpPr>
          <p:cNvPr id="7" name="cover-sprint">
            <a:extLst xmlns:a="http://schemas.openxmlformats.org/drawingml/2006/main">
              <a:ext uri="{FF2B5EF4-FFF2-40B4-BE49-F238E27FC236}">
                <a16:creationId xmlns:a16="http://schemas.microsoft.com/office/drawing/2014/main" id="{9648B84D-6739-4866-B385-F3697FA1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6578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3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3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3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3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3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3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3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3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3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Sprint 1</a:t>
            </a:r>
          </a:p>
        </p:txBody>
      </p:sp>
    </p:spTree>
    <p:extLst>
      <p:ext uri="{BB962C8B-B14F-4D97-AF65-F5344CB8AC3E}">
        <p14:creationId xmlns:p14="http://schemas.microsoft.com/office/powerpoint/2010/main" val="945093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2">
            <a:extLst xmlns:a="http://schemas.openxmlformats.org/drawingml/2006/main">
              <a:ext uri="{FF2B5EF4-FFF2-40B4-BE49-F238E27FC236}">
                <a16:creationId xmlns:a16="http://schemas.microsoft.com/office/drawing/2014/main" id="{FC359F74-1CC3-44E0-960E-77998DA7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0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50D873A-BC3D-4FA1-96EC-EEEDDBC1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Node.js en quelques mots</a:t>
            </a:r>
          </a:p>
        </p:txBody>
      </p:sp>
      <p:sp>
        <p:nvSpPr>
          <p:cNvPr id="3" name="definition-main">
            <a:extLst xmlns:a="http://schemas.openxmlformats.org/drawingml/2006/main">
              <a:ext uri="{FF2B5EF4-FFF2-40B4-BE49-F238E27FC236}">
                <a16:creationId xmlns:a16="http://schemas.microsoft.com/office/drawing/2014/main" id="{4A41BB00-18CD-4FF4-90DB-BDFDBA77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95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Node.js exécute du JavaScript hors du navigateur.</a:t>
            </a:r>
          </a:p>
        </p:txBody>
      </p:sp>
      <p:sp>
        <p:nvSpPr>
          <p:cNvPr id="4" name="definition-body">
            <a:extLst xmlns:a="http://schemas.openxmlformats.org/drawingml/2006/main">
              <a:ext uri="{FF2B5EF4-FFF2-40B4-BE49-F238E27FC236}">
                <a16:creationId xmlns:a16="http://schemas.microsoft.com/office/drawing/2014/main" id="{BFFE4B3C-4291-4DAD-A520-D75C9BEA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Il s’appuie sur le moteur V8 et fournit les fonctions nécessaires pour construire des serveurs, des API et des outils en ligne de commande.</a:t>
            </a:r>
          </a:p>
        </p:txBody>
      </p:sp>
      <p:sp>
        <p:nvSpPr>
          <p:cNvPr id="5" name="node-benefits">
            <a:extLst xmlns:a="http://schemas.openxmlformats.org/drawingml/2006/main">
              <a:ext uri="{FF2B5EF4-FFF2-40B4-BE49-F238E27FC236}">
                <a16:creationId xmlns:a16="http://schemas.microsoft.com/office/drawing/2014/main" id="{84069E4A-51C9-4D13-875E-FC337F2B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676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Projet open source et multiplateforme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Même langage JavaScript côté client et côté serveur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Adapté aux applications réseau et aux API REST</a:t>
            </a:r>
          </a:p>
        </p:txBody>
      </p:sp>
      <p:sp>
        <p:nvSpPr>
          <p:cNvPr id="6" name="definition-rule">
            <a:extLst xmlns:a="http://schemas.openxmlformats.org/drawingml/2006/main">
              <a:ext uri="{FF2B5EF4-FFF2-40B4-BE49-F238E27FC236}">
                <a16:creationId xmlns:a16="http://schemas.microsoft.com/office/drawing/2014/main" id="{1F466587-55A1-447D-8BA3-02BB1977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A063"/>
            </a:solidFill>
            <a:prstDash val="solid"/>
          </a:ln>
        </p:spPr>
      </p:sp>
      <p:sp>
        <p:nvSpPr>
          <p:cNvPr id="7" name="keyword-v8">
            <a:extLst xmlns:a="http://schemas.openxmlformats.org/drawingml/2006/main">
              <a:ext uri="{FF2B5EF4-FFF2-40B4-BE49-F238E27FC236}">
                <a16:creationId xmlns:a16="http://schemas.microsoft.com/office/drawing/2014/main" id="{0C3FA0B5-20A2-4721-82C9-EA454B5F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049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V8</a:t>
            </a:r>
          </a:p>
        </p:txBody>
      </p:sp>
      <p:sp>
        <p:nvSpPr>
          <p:cNvPr id="8" name="keyword-js">
            <a:extLst xmlns:a="http://schemas.openxmlformats.org/drawingml/2006/main">
              <a:ext uri="{FF2B5EF4-FFF2-40B4-BE49-F238E27FC236}">
                <a16:creationId xmlns:a16="http://schemas.microsoft.com/office/drawing/2014/main" id="{77C99BF5-E61A-4259-AA5E-30A11B3B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JavaScript</a:t>
            </a:r>
          </a:p>
        </p:txBody>
      </p:sp>
      <p:sp>
        <p:nvSpPr>
          <p:cNvPr id="9" name="keyword-server">
            <a:extLst xmlns:a="http://schemas.openxmlformats.org/drawingml/2006/main">
              <a:ext uri="{FF2B5EF4-FFF2-40B4-BE49-F238E27FC236}">
                <a16:creationId xmlns:a16="http://schemas.microsoft.com/office/drawing/2014/main" id="{9C74C07B-9C3E-4538-A0F0-E5153DA2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côté serveur</a:t>
            </a:r>
          </a:p>
        </p:txBody>
      </p:sp>
      <p:sp>
        <p:nvSpPr>
          <p:cNvPr id="10" name="version-label">
            <a:extLst xmlns:a="http://schemas.openxmlformats.org/drawingml/2006/main">
              <a:ext uri="{FF2B5EF4-FFF2-40B4-BE49-F238E27FC236}">
                <a16:creationId xmlns:a16="http://schemas.microsoft.com/office/drawing/2014/main" id="{AA41A837-B0A7-422D-915D-0D9A3CE1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Version installée</a:t>
            </a:r>
          </a:p>
        </p:txBody>
      </p:sp>
      <p:sp>
        <p:nvSpPr>
          <p:cNvPr id="11" name="version-value">
            <a:extLst xmlns:a="http://schemas.openxmlformats.org/drawingml/2006/main">
              <a:ext uri="{FF2B5EF4-FFF2-40B4-BE49-F238E27FC236}">
                <a16:creationId xmlns:a16="http://schemas.microsoft.com/office/drawing/2014/main" id="{B98DD010-6693-4150-AA3A-03ECB862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24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24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24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24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24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24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24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24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24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4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rPr>
              <a:t>v26.5.1</a:t>
            </a:r>
          </a:p>
        </p:txBody>
      </p:sp>
      <p:sp>
        <p:nvSpPr>
          <p:cNvPr id="12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8A8A833E-EA43-482F-A5BB-2447A11A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B318CE63-F9F8-4AEA-B5E0-B87AC385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Sprint 1 / Node.js</a:t>
            </a:r>
          </a:p>
        </p:txBody>
      </p:sp>
      <p:sp>
        <p:nvSpPr>
          <p:cNvPr id="14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C8489B71-4B81-422B-9D79-CD564200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55042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76C65-244E-47C5-A0DA-F1641125CAEB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067050" y="4933950"/>
            <a:ext cx="1838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DC8C2-F209-4C84-B3EB-25BF255CEE9C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286625" y="4933950"/>
            <a:ext cx="1838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464C6-7F9C-4805-9E54-3CDC880AE7D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315575" y="3295650"/>
            <a:ext cx="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EC06F-2686-4D26-A401-EB7C669B6D1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286625" y="2781300"/>
            <a:ext cx="1838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9F5B2-FD26-4917-B106-37A9077D153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67050" y="2781300"/>
            <a:ext cx="1838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triangle" w="sm" len="sm"/>
          </a:ln>
        </p:spPr>
      </p:cxnSp>
      <p:sp>
        <p:nvSpPr>
          <p:cNvPr id="19" name="accent-3">
            <a:extLst xmlns:a="http://schemas.openxmlformats.org/drawingml/2006/main">
              <a:ext uri="{FF2B5EF4-FFF2-40B4-BE49-F238E27FC236}">
                <a16:creationId xmlns:a16="http://schemas.microsoft.com/office/drawing/2014/main" id="{D08D0D18-0927-43EA-B031-C3C27761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0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5030419-7456-495E-97B8-8654B425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Exécution asynchrone et event loop</a:t>
            </a:r>
          </a:p>
        </p:txBody>
      </p:sp>
      <p:sp>
        <p:nvSpPr>
          <p:cNvPr id="3" name="event-intro">
            <a:extLst xmlns:a="http://schemas.openxmlformats.org/drawingml/2006/main">
              <a:ext uri="{FF2B5EF4-FFF2-40B4-BE49-F238E27FC236}">
                <a16:creationId xmlns:a16="http://schemas.microsoft.com/office/drawing/2014/main" id="{73A13775-EC02-4AF5-B744-A0EF303D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Node.js peut lancer une opération d’entrée-sortie sans bloquer l’exécution du code JavaScript.</a:t>
            </a:r>
          </a:p>
        </p:txBody>
      </p:sp>
      <p:sp>
        <p:nvSpPr>
          <p:cNvPr id="4" name="request-node">
            <a:extLst xmlns:a="http://schemas.openxmlformats.org/drawingml/2006/main">
              <a:ext uri="{FF2B5EF4-FFF2-40B4-BE49-F238E27FC236}">
                <a16:creationId xmlns:a16="http://schemas.microsoft.com/office/drawing/2014/main" id="{648F01E2-B5DD-47AC-B841-378DA2A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19050">
            <a:solidFill>
              <a:srgbClr val="68A06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1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Requête HTTP</a:t>
            </a:r>
          </a:p>
        </p:txBody>
      </p:sp>
      <p:sp>
        <p:nvSpPr>
          <p:cNvPr id="5" name="loop-node">
            <a:extLst xmlns:a="http://schemas.openxmlformats.org/drawingml/2006/main">
              <a:ext uri="{FF2B5EF4-FFF2-40B4-BE49-F238E27FC236}">
                <a16:creationId xmlns:a16="http://schemas.microsoft.com/office/drawing/2014/main" id="{9CA00E7B-D6E1-4B57-BA74-752485D4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76450"/>
            <a:ext cx="23812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73321"/>
          </a:solidFill>
          <a:ln xmlns:a="http://schemas.openxmlformats.org/drawingml/2006/main" w="19050">
            <a:solidFill>
              <a:srgbClr val="86C77F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2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Event loop</a:t>
            </a:r>
          </a:p>
        </p:txBody>
      </p:sp>
      <p:sp>
        <p:nvSpPr>
          <p:cNvPr id="6" name="io-node">
            <a:extLst xmlns:a="http://schemas.openxmlformats.org/drawingml/2006/main">
              <a:ext uri="{FF2B5EF4-FFF2-40B4-BE49-F238E27FC236}">
                <a16:creationId xmlns:a16="http://schemas.microsoft.com/office/drawing/2014/main" id="{B45E2351-64FC-46BD-9BFB-4AAA8923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66950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19050">
            <a:solidFill>
              <a:srgbClr val="68A06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Réseau, fichiers ou base</a:t>
            </a:r>
          </a:p>
        </p:txBody>
      </p:sp>
      <p:sp>
        <p:nvSpPr>
          <p:cNvPr id="7" name="response-node">
            <a:extLst xmlns:a="http://schemas.openxmlformats.org/drawingml/2006/main">
              <a:ext uri="{FF2B5EF4-FFF2-40B4-BE49-F238E27FC236}">
                <a16:creationId xmlns:a16="http://schemas.microsoft.com/office/drawing/2014/main" id="{85167099-AEFF-4F69-8608-1556DCE1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19050">
            <a:solidFill>
              <a:srgbClr val="68A06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6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Réponse JSON</a:t>
            </a:r>
          </a:p>
        </p:txBody>
      </p:sp>
      <p:sp>
        <p:nvSpPr>
          <p:cNvPr id="8" name="callback-node">
            <a:extLst xmlns:a="http://schemas.openxmlformats.org/drawingml/2006/main">
              <a:ext uri="{FF2B5EF4-FFF2-40B4-BE49-F238E27FC236}">
                <a16:creationId xmlns:a16="http://schemas.microsoft.com/office/drawing/2014/main" id="{A93FB022-B84E-4C79-B2CB-28BAB054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29100"/>
            <a:ext cx="23812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73321"/>
          </a:solidFill>
          <a:ln xmlns:a="http://schemas.openxmlformats.org/drawingml/2006/main" w="19050">
            <a:solidFill>
              <a:srgbClr val="86C77F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5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Callback prêt</a:t>
            </a:r>
          </a:p>
        </p:txBody>
      </p:sp>
      <p:sp>
        <p:nvSpPr>
          <p:cNvPr id="9" name="done-node">
            <a:extLst xmlns:a="http://schemas.openxmlformats.org/drawingml/2006/main">
              <a:ext uri="{FF2B5EF4-FFF2-40B4-BE49-F238E27FC236}">
                <a16:creationId xmlns:a16="http://schemas.microsoft.com/office/drawing/2014/main" id="{415BD2EE-A03A-4C41-80AE-2766306F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19600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19050">
            <a:solidFill>
              <a:srgbClr val="68A06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4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Opération terminée</a:t>
            </a:r>
          </a:p>
        </p:txBody>
      </p:sp>
      <p:sp>
        <p:nvSpPr>
          <p:cNvPr id="15" name="event-takeaway">
            <a:extLst xmlns:a="http://schemas.openxmlformats.org/drawingml/2006/main">
              <a:ext uri="{FF2B5EF4-FFF2-40B4-BE49-F238E27FC236}">
                <a16:creationId xmlns:a16="http://schemas.microsoft.com/office/drawing/2014/main" id="{42D418D3-6AE7-4E98-B0F0-56D66752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864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6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Pendant l’attente des E/S, le processus peut traiter d’autres requêtes.</a:t>
            </a:r>
          </a:p>
        </p:txBody>
      </p:sp>
      <p:sp>
        <p:nvSpPr>
          <p:cNvPr id="16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34E650E0-364E-4D30-934D-4A82CE9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DBC64301-02DE-4250-BECC-7948BCAE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Sprint 1 / Node.js</a:t>
            </a:r>
          </a:p>
        </p:txBody>
      </p:sp>
      <p:sp>
        <p:nvSpPr>
          <p:cNvPr id="18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3E2E636F-0B6E-4B2C-93B8-641DAB08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9750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4">
            <a:extLst xmlns:a="http://schemas.openxmlformats.org/drawingml/2006/main">
              <a:ext uri="{FF2B5EF4-FFF2-40B4-BE49-F238E27FC236}">
                <a16:creationId xmlns:a16="http://schemas.microsoft.com/office/drawing/2014/main" id="{A6B047F0-FD71-416A-A81F-0FF85A3A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0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AEAC69A-6B81-4EC0-8ED3-862C0919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Modules, npm et Express</a:t>
            </a:r>
          </a:p>
        </p:txBody>
      </p:sp>
      <p:sp>
        <p:nvSpPr>
          <p:cNvPr id="3" name="backend/package.json-panel">
            <a:extLst xmlns:a="http://schemas.openxmlformats.org/drawingml/2006/main">
              <a:ext uri="{FF2B5EF4-FFF2-40B4-BE49-F238E27FC236}">
                <a16:creationId xmlns:a16="http://schemas.microsoft.com/office/drawing/2014/main" id="{B17046DA-4AD2-486A-8106-0F730FA8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" name="backend/package.json-label">
            <a:extLst xmlns:a="http://schemas.openxmlformats.org/drawingml/2006/main">
              <a:ext uri="{FF2B5EF4-FFF2-40B4-BE49-F238E27FC236}">
                <a16:creationId xmlns:a16="http://schemas.microsoft.com/office/drawing/2014/main" id="{94B548DF-1F41-4A87-B6A0-7235893F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573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BACKEND/PACKAGE.JSON</a:t>
            </a:r>
          </a:p>
        </p:txBody>
      </p:sp>
      <p:sp>
        <p:nvSpPr>
          <p:cNvPr id="5" name="backend/package.json-separator">
            <a:extLst xmlns:a="http://schemas.openxmlformats.org/drawingml/2006/main">
              <a:ext uri="{FF2B5EF4-FFF2-40B4-BE49-F238E27FC236}">
                <a16:creationId xmlns:a16="http://schemas.microsoft.com/office/drawing/2014/main" id="{486766C2-A884-4894-BD6F-233FC349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573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backend/package.json-code">
            <a:extLst xmlns:a="http://schemas.openxmlformats.org/drawingml/2006/main">
              <a:ext uri="{FF2B5EF4-FFF2-40B4-BE49-F238E27FC236}">
                <a16:creationId xmlns:a16="http://schemas.microsoft.com/office/drawing/2014/main" id="{0F16BDE3-CD31-469F-A90A-4D088C5B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 xmlns:a="http://schemas.openxmlformats.org/drawingml/2006/main">
            <a: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"type": "module",</a:t>
            </a:r>
          </a:p>
          <a:p xmlns:a="http://schemas.openxmlformats.org/drawingml/2006/main">
            <a: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"scripts": {</a:t>
            </a:r>
          </a:p>
          <a:p xmlns:a="http://schemas.openxmlformats.org/drawingml/2006/main">
            <a: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  "start": "node src/server.js",</a:t>
            </a:r>
          </a:p>
          <a:p xmlns:a="http://schemas.openxmlformats.org/drawingml/2006/main">
            <a: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  "dev": "node --watch src/server.js"</a:t>
            </a:r>
          </a:p>
          <a:p xmlns:a="http://schemas.openxmlformats.org/drawingml/2006/main">
            <a: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},</a:t>
            </a:r>
          </a:p>
          <a:p xmlns:a="http://schemas.openxmlformats.org/drawingml/2006/main">
            <a: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"dependencies": {</a:t>
            </a:r>
          </a:p>
          <a:p xmlns:a="http://schemas.openxmlformats.org/drawingml/2006/main">
            <a: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  "cors": "^2.8.6",</a:t>
            </a:r>
          </a:p>
          <a:p xmlns:a="http://schemas.openxmlformats.org/drawingml/2006/main">
            <a: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  "dotenv": "^18.0.8",</a:t>
            </a:r>
          </a:p>
          <a:p xmlns:a="http://schemas.openxmlformats.org/drawingml/2006/main">
            <a: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  "express": "^5.3.0"</a:t>
            </a:r>
          </a:p>
          <a:p xmlns:a="http://schemas.openxmlformats.org/drawingml/2006/main">
            <a: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}</a:t>
            </a:r>
          </a:p>
          <a:p xmlns:a="http://schemas.openxmlformats.org/drawingml/2006/main">
            <a:pPr algn="l">
              <a:def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7" name="npm-heading">
            <a:extLst xmlns:a="http://schemas.openxmlformats.org/drawingml/2006/main">
              <a:ext uri="{FF2B5EF4-FFF2-40B4-BE49-F238E27FC236}">
                <a16:creationId xmlns:a16="http://schemas.microsoft.com/office/drawing/2014/main" id="{0071EA45-A1E3-41F1-963A-53228FCB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621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npm</a:t>
            </a:r>
          </a:p>
        </p:txBody>
      </p:sp>
      <p:sp>
        <p:nvSpPr>
          <p:cNvPr id="8" name="npm-body">
            <a:extLst xmlns:a="http://schemas.openxmlformats.org/drawingml/2006/main">
              <a:ext uri="{FF2B5EF4-FFF2-40B4-BE49-F238E27FC236}">
                <a16:creationId xmlns:a16="http://schemas.microsoft.com/office/drawing/2014/main" id="{2252C5A1-351E-4B02-9452-D37C2D27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383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Installe les dépendances et exécute les scripts du projet.</a:t>
            </a:r>
          </a:p>
        </p:txBody>
      </p:sp>
      <p:sp>
        <p:nvSpPr>
          <p:cNvPr id="9" name="express-heading">
            <a:extLst xmlns:a="http://schemas.openxmlformats.org/drawingml/2006/main">
              <a:ext uri="{FF2B5EF4-FFF2-40B4-BE49-F238E27FC236}">
                <a16:creationId xmlns:a16="http://schemas.microsoft.com/office/drawing/2014/main" id="{FB956EE7-9C15-450E-933C-AFCCED4E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Express</a:t>
            </a:r>
          </a:p>
        </p:txBody>
      </p:sp>
      <p:sp>
        <p:nvSpPr>
          <p:cNvPr id="10" name="express-body">
            <a:extLst xmlns:a="http://schemas.openxmlformats.org/drawingml/2006/main">
              <a:ext uri="{FF2B5EF4-FFF2-40B4-BE49-F238E27FC236}">
                <a16:creationId xmlns:a16="http://schemas.microsoft.com/office/drawing/2014/main" id="{1CBA3EF4-4302-4341-B7C2-A2F1079B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Reçoit les requêtes HTTP et associe chaque URL à une fonction.</a:t>
            </a:r>
          </a:p>
        </p:txBody>
      </p:sp>
      <p:sp>
        <p:nvSpPr>
          <p:cNvPr id="11" name="support-heading">
            <a:extLst xmlns:a="http://schemas.openxmlformats.org/drawingml/2006/main">
              <a:ext uri="{FF2B5EF4-FFF2-40B4-BE49-F238E27FC236}">
                <a16:creationId xmlns:a16="http://schemas.microsoft.com/office/drawing/2014/main" id="{9F5477A0-51F0-486D-8463-652E51A5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434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CORS et dotenv</a:t>
            </a:r>
          </a:p>
        </p:txBody>
      </p:sp>
      <p:sp>
        <p:nvSpPr>
          <p:cNvPr id="12" name="support-body">
            <a:extLst xmlns:a="http://schemas.openxmlformats.org/drawingml/2006/main">
              <a:ext uri="{FF2B5EF4-FFF2-40B4-BE49-F238E27FC236}">
                <a16:creationId xmlns:a16="http://schemas.microsoft.com/office/drawing/2014/main" id="{DBD7805A-E013-4ABF-81BB-366B598E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196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CORS autorise l’accès depuis l’interface. dotenv charge la configuration du serveur.</a:t>
            </a:r>
          </a:p>
        </p:txBody>
      </p:sp>
      <p:sp>
        <p:nvSpPr>
          <p:cNvPr id="13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8CBE3F58-63AC-402F-9FAA-367249A4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AFCE97AD-4BB4-4A72-B58A-8249A69D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Sprint 1 / Node.js</a:t>
            </a:r>
          </a:p>
        </p:txBody>
      </p:sp>
      <p:sp>
        <p:nvSpPr>
          <p:cNvPr id="1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8614C7EB-80C5-4371-946E-EF49E9A2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71501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735A7-A43F-447F-BB1D-CDEF40E1C61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810500" y="3429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8A063"/>
            </a:solidFill>
            <a:prstDash val="solid"/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13751-419B-4C48-9F87-B20B29137BF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43300" y="3429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8A063"/>
            </a:solidFill>
            <a:prstDash val="solid"/>
            <a:tailEnd type="triangle" w="med" len="med"/>
          </a:ln>
        </p:spPr>
      </p:cxnSp>
      <p:sp>
        <p:nvSpPr>
          <p:cNvPr id="17" name="accent-5">
            <a:extLst xmlns:a="http://schemas.openxmlformats.org/drawingml/2006/main">
              <a:ext uri="{FF2B5EF4-FFF2-40B4-BE49-F238E27FC236}">
                <a16:creationId xmlns:a16="http://schemas.microsoft.com/office/drawing/2014/main" id="{B9DEE626-CC6E-49BA-81CF-B89D92F1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0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F1B0457-048C-4DCB-B3A7-D90B70B7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Rôle de Node.js dans l’application</a:t>
            </a:r>
          </a:p>
        </p:txBody>
      </p:sp>
      <p:sp>
        <p:nvSpPr>
          <p:cNvPr id="3" name="architecture-intro">
            <a:extLst xmlns:a="http://schemas.openxmlformats.org/drawingml/2006/main">
              <a:ext uri="{FF2B5EF4-FFF2-40B4-BE49-F238E27FC236}">
                <a16:creationId xmlns:a16="http://schemas.microsoft.com/office/drawing/2014/main" id="{9DAF68F6-630A-4187-B4DD-26374C37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Node.js constitue la couche intermédiaire entre les interfaces et les données du transport.</a:t>
            </a:r>
          </a:p>
        </p:txBody>
      </p:sp>
      <p:sp>
        <p:nvSpPr>
          <p:cNvPr id="4" name="client-tier">
            <a:extLst xmlns:a="http://schemas.openxmlformats.org/drawingml/2006/main">
              <a:ext uri="{FF2B5EF4-FFF2-40B4-BE49-F238E27FC236}">
                <a16:creationId xmlns:a16="http://schemas.microsoft.com/office/drawing/2014/main" id="{1BA7C8D7-6CC7-44B7-91DF-BDE4123C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APPLICATIONS CLIENTES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Navigateur Web / Desktop</a:t>
            </a:r>
          </a:p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Client · Chauffeur · Admin</a:t>
            </a:r>
          </a:p>
        </p:txBody>
      </p:sp>
      <p:sp>
        <p:nvSpPr>
          <p:cNvPr id="5" name="api-tier">
            <a:extLst xmlns:a="http://schemas.openxmlformats.org/drawingml/2006/main">
              <a:ext uri="{FF2B5EF4-FFF2-40B4-BE49-F238E27FC236}">
                <a16:creationId xmlns:a16="http://schemas.microsoft.com/office/drawing/2014/main" id="{20DE2330-7FBC-4E24-B637-B0052DDD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31432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73321"/>
          </a:solidFill>
          <a:ln xmlns:a="http://schemas.openxmlformats.org/drawingml/2006/main" w="19050">
            <a:solidFill>
              <a:srgbClr val="86C77F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API NODE.JS / 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Authentification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Trajets et réservations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QR code et statistiques</a:t>
            </a:r>
          </a:p>
        </p:txBody>
      </p:sp>
      <p:sp>
        <p:nvSpPr>
          <p:cNvPr id="6" name="database-tier">
            <a:extLst xmlns:a="http://schemas.openxmlformats.org/drawingml/2006/main">
              <a:ext uri="{FF2B5EF4-FFF2-40B4-BE49-F238E27FC236}">
                <a16:creationId xmlns:a16="http://schemas.microsoft.com/office/drawing/2014/main" id="{38715ED0-FDFE-4A06-9A6B-92367912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263C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BASE DE DONNÉES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PostgreSQL</a:t>
            </a:r>
          </a:p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Ubuntu Server</a:t>
            </a:r>
          </a:p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Machine virtuelle</a:t>
            </a:r>
          </a:p>
        </p:txBody>
      </p:sp>
      <p:sp>
        <p:nvSpPr>
          <p:cNvPr id="9" name="rest-label">
            <a:extLst xmlns:a="http://schemas.openxmlformats.org/drawingml/2006/main">
              <a:ext uri="{FF2B5EF4-FFF2-40B4-BE49-F238E27FC236}">
                <a16:creationId xmlns:a16="http://schemas.microsoft.com/office/drawing/2014/main" id="{75D3574D-6319-4A37-96BF-5DDF7529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rPr>
              <a:t>REST / JSON</a:t>
            </a:r>
          </a:p>
        </p:txBody>
      </p:sp>
      <p:sp>
        <p:nvSpPr>
          <p:cNvPr id="10" name="sql-label">
            <a:extLst xmlns:a="http://schemas.openxmlformats.org/drawingml/2006/main">
              <a:ext uri="{FF2B5EF4-FFF2-40B4-BE49-F238E27FC236}">
                <a16:creationId xmlns:a16="http://schemas.microsoft.com/office/drawing/2014/main" id="{A0C29B11-DFD7-49ED-9770-3208E8BF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rPr>
              <a:t>SQL privé</a:t>
            </a:r>
          </a:p>
        </p:txBody>
      </p:sp>
      <p:sp>
        <p:nvSpPr>
          <p:cNvPr id="11" name="windows-label">
            <a:extLst xmlns:a="http://schemas.openxmlformats.org/drawingml/2006/main">
              <a:ext uri="{FF2B5EF4-FFF2-40B4-BE49-F238E27FC236}">
                <a16:creationId xmlns:a16="http://schemas.microsoft.com/office/drawing/2014/main" id="{C9BC6F16-9CF4-4524-99B5-3C0A519E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712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Machine principale Windows</a:t>
            </a:r>
          </a:p>
        </p:txBody>
      </p:sp>
      <p:sp>
        <p:nvSpPr>
          <p:cNvPr id="12" name="linux-label">
            <a:extLst xmlns:a="http://schemas.openxmlformats.org/drawingml/2006/main">
              <a:ext uri="{FF2B5EF4-FFF2-40B4-BE49-F238E27FC236}">
                <a16:creationId xmlns:a16="http://schemas.microsoft.com/office/drawing/2014/main" id="{704ACAD8-D3C0-411A-AC10-A6D42A65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57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VM Linux</a:t>
            </a:r>
          </a:p>
        </p:txBody>
      </p:sp>
      <p:sp>
        <p:nvSpPr>
          <p:cNvPr id="13" name="architecture-takeaway">
            <a:extLst xmlns:a="http://schemas.openxmlformats.org/drawingml/2006/main">
              <a:ext uri="{FF2B5EF4-FFF2-40B4-BE49-F238E27FC236}">
                <a16:creationId xmlns:a16="http://schemas.microsoft.com/office/drawing/2014/main" id="{85D28A1A-4C98-44BE-952B-692C442D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19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Le navigateur n’accède jamais directement à la base de données.</a:t>
            </a:r>
          </a:p>
        </p:txBody>
      </p:sp>
      <p:sp>
        <p:nvSpPr>
          <p:cNvPr id="14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E9E217A0-C5FD-444C-8D4A-5D3D03CF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F4ED093C-7176-48D1-9B24-0AAD5555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Sprint 1 / Node.js</a:t>
            </a:r>
          </a:p>
        </p:txBody>
      </p:sp>
      <p:sp>
        <p:nvSpPr>
          <p:cNvPr id="16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66281ED4-00FA-4D41-B53F-29CC8B01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9571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cent-6">
            <a:extLst xmlns:a="http://schemas.openxmlformats.org/drawingml/2006/main">
              <a:ext uri="{FF2B5EF4-FFF2-40B4-BE49-F238E27FC236}">
                <a16:creationId xmlns:a16="http://schemas.microsoft.com/office/drawing/2014/main" id="{5D776C47-D398-4FC7-88B5-6A9FDA5A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0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8DC544B-6D16-4A5D-B853-ABC0E27A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Première route de l’API</a:t>
            </a:r>
          </a:p>
        </p:txBody>
      </p:sp>
      <p:sp>
        <p:nvSpPr>
          <p:cNvPr id="3" name="backend/src/app.js-panel">
            <a:extLst xmlns:a="http://schemas.openxmlformats.org/drawingml/2006/main">
              <a:ext uri="{FF2B5EF4-FFF2-40B4-BE49-F238E27FC236}">
                <a16:creationId xmlns:a16="http://schemas.microsoft.com/office/drawing/2014/main" id="{7E83700B-953F-4926-AEBA-1772DDBB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6858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" name="backend/src/app.js-label">
            <a:extLst xmlns:a="http://schemas.openxmlformats.org/drawingml/2006/main">
              <a:ext uri="{FF2B5EF4-FFF2-40B4-BE49-F238E27FC236}">
                <a16:creationId xmlns:a16="http://schemas.microsoft.com/office/drawing/2014/main" id="{20641881-4A07-4616-A2FD-050E5211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BACKEND/SRC/APP.JS</a:t>
            </a:r>
          </a:p>
        </p:txBody>
      </p:sp>
      <p:sp>
        <p:nvSpPr>
          <p:cNvPr id="5" name="backend/src/app.js-separator">
            <a:extLst xmlns:a="http://schemas.openxmlformats.org/drawingml/2006/main">
              <a:ext uri="{FF2B5EF4-FFF2-40B4-BE49-F238E27FC236}">
                <a16:creationId xmlns:a16="http://schemas.microsoft.com/office/drawing/2014/main" id="{7C77F4D2-83D3-4A73-B16D-51BF9DF7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backend/src/app.js-code">
            <a:extLst xmlns:a="http://schemas.openxmlformats.org/drawingml/2006/main">
              <a:ext uri="{FF2B5EF4-FFF2-40B4-BE49-F238E27FC236}">
                <a16:creationId xmlns:a16="http://schemas.microsoft.com/office/drawing/2014/main" id="{4199A294-4DCB-43CF-84AC-CE76A84A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64008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app.get('/api/health', (req, res) =&gt; {</a:t>
            </a:r>
          </a:p>
          <a:p xmlns:a="http://schemas.openxmlformats.org/drawingml/2006/main">
            <a: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res.status(200).json({</a:t>
            </a:r>
          </a:p>
          <a:p xmlns:a="http://schemas.openxmlformats.org/drawingml/2006/main">
            <a: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  status: 'ok',</a:t>
            </a:r>
          </a:p>
          <a:p xmlns:a="http://schemas.openxmlformats.org/drawingml/2006/main">
            <a: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  message: 'API de transport opérationnelle',</a:t>
            </a:r>
          </a:p>
          <a:p xmlns:a="http://schemas.openxmlformats.org/drawingml/2006/main">
            <a: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  timestamp: new Date().toISOString()</a:t>
            </a:r>
          </a:p>
          <a:p xmlns:a="http://schemas.openxmlformats.org/drawingml/2006/main">
            <a: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  })</a:t>
            </a:r>
          </a:p>
          <a:p xmlns:a="http://schemas.openxmlformats.org/drawingml/2006/main">
            <a: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})</a:t>
            </a:r>
          </a:p>
        </p:txBody>
      </p:sp>
      <p:sp>
        <p:nvSpPr>
          <p:cNvPr id="7" name="contract-heading">
            <a:extLst xmlns:a="http://schemas.openxmlformats.org/drawingml/2006/main">
              <a:ext uri="{FF2B5EF4-FFF2-40B4-BE49-F238E27FC236}">
                <a16:creationId xmlns:a16="http://schemas.microsoft.com/office/drawing/2014/main" id="{561DDF44-0914-49D6-9E12-CF8D7F3A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Contrat de la route</a:t>
            </a:r>
          </a:p>
        </p:txBody>
      </p:sp>
      <p:sp>
        <p:nvSpPr>
          <p:cNvPr id="8" name="method-label">
            <a:extLst xmlns:a="http://schemas.openxmlformats.org/drawingml/2006/main">
              <a:ext uri="{FF2B5EF4-FFF2-40B4-BE49-F238E27FC236}">
                <a16:creationId xmlns:a16="http://schemas.microsoft.com/office/drawing/2014/main" id="{49B24936-2FD8-4629-B946-D89ADC11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Méthode</a:t>
            </a:r>
          </a:p>
        </p:txBody>
      </p:sp>
      <p:sp>
        <p:nvSpPr>
          <p:cNvPr id="9" name="method-value">
            <a:extLst xmlns:a="http://schemas.openxmlformats.org/drawingml/2006/main">
              <a:ext uri="{FF2B5EF4-FFF2-40B4-BE49-F238E27FC236}">
                <a16:creationId xmlns:a16="http://schemas.microsoft.com/office/drawing/2014/main" id="{87DB3934-90F7-410B-B8BC-BB21CE7C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8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8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8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8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8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8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8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8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8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rPr>
              <a:t>GET</a:t>
            </a:r>
          </a:p>
        </p:txBody>
      </p:sp>
      <p:sp>
        <p:nvSpPr>
          <p:cNvPr id="10" name="url-label">
            <a:extLst xmlns:a="http://schemas.openxmlformats.org/drawingml/2006/main">
              <a:ext uri="{FF2B5EF4-FFF2-40B4-BE49-F238E27FC236}">
                <a16:creationId xmlns:a16="http://schemas.microsoft.com/office/drawing/2014/main" id="{9BB997AC-C7EA-483A-A76A-9996054C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URL</a:t>
            </a:r>
          </a:p>
        </p:txBody>
      </p:sp>
      <p:sp>
        <p:nvSpPr>
          <p:cNvPr id="11" name="url-value">
            <a:extLst xmlns:a="http://schemas.openxmlformats.org/drawingml/2006/main">
              <a:ext uri="{FF2B5EF4-FFF2-40B4-BE49-F238E27FC236}">
                <a16:creationId xmlns:a16="http://schemas.microsoft.com/office/drawing/2014/main" id="{4F775121-316D-4198-B640-C1964D82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rPr>
              <a:t>/api/health</a:t>
            </a:r>
          </a:p>
        </p:txBody>
      </p:sp>
      <p:sp>
        <p:nvSpPr>
          <p:cNvPr id="12" name="status-label">
            <a:extLst xmlns:a="http://schemas.openxmlformats.org/drawingml/2006/main">
              <a:ext uri="{FF2B5EF4-FFF2-40B4-BE49-F238E27FC236}">
                <a16:creationId xmlns:a16="http://schemas.microsoft.com/office/drawing/2014/main" id="{AAE82853-A8E5-4D9F-A891-9C168627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Succès</a:t>
            </a:r>
          </a:p>
        </p:txBody>
      </p:sp>
      <p:sp>
        <p:nvSpPr>
          <p:cNvPr id="13" name="status-value">
            <a:extLst xmlns:a="http://schemas.openxmlformats.org/drawingml/2006/main">
              <a:ext uri="{FF2B5EF4-FFF2-40B4-BE49-F238E27FC236}">
                <a16:creationId xmlns:a16="http://schemas.microsoft.com/office/drawing/2014/main" id="{C0FC1B6A-D3D5-4F3A-B493-2B851D2B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909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rPr>
              <a:t>HTTP 200</a:t>
            </a:r>
          </a:p>
        </p:txBody>
      </p:sp>
      <p:sp>
        <p:nvSpPr>
          <p:cNvPr id="14" name="format-label">
            <a:extLst xmlns:a="http://schemas.openxmlformats.org/drawingml/2006/main">
              <a:ext uri="{FF2B5EF4-FFF2-40B4-BE49-F238E27FC236}">
                <a16:creationId xmlns:a16="http://schemas.microsoft.com/office/drawing/2014/main" id="{8C97DD87-79E1-4EDE-9165-10BFE6F2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Format</a:t>
            </a:r>
          </a:p>
        </p:txBody>
      </p:sp>
      <p:sp>
        <p:nvSpPr>
          <p:cNvPr id="15" name="format-value">
            <a:extLst xmlns:a="http://schemas.openxmlformats.org/drawingml/2006/main">
              <a:ext uri="{FF2B5EF4-FFF2-40B4-BE49-F238E27FC236}">
                <a16:creationId xmlns:a16="http://schemas.microsoft.com/office/drawing/2014/main" id="{44EF246D-3F55-4A08-82D5-DE9F21B7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43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rPr>
              <a:t>JSON</a:t>
            </a:r>
          </a:p>
        </p:txBody>
      </p:sp>
      <p:sp>
        <p:nvSpPr>
          <p:cNvPr id="16" name="contract-explanation">
            <a:extLst xmlns:a="http://schemas.openxmlformats.org/drawingml/2006/main">
              <a:ext uri="{FF2B5EF4-FFF2-40B4-BE49-F238E27FC236}">
                <a16:creationId xmlns:a16="http://schemas.microsoft.com/office/drawing/2014/main" id="{722CC348-5E42-4E79-B689-44A20F9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23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Cette route vérifie que le serveur démarre et répond correctement avant d’ajouter les fonctions métier.</a:t>
            </a:r>
          </a:p>
        </p:txBody>
      </p:sp>
      <p:sp>
        <p:nvSpPr>
          <p:cNvPr id="17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32BB2EEF-8B10-4FC6-B5AB-DF97A6A8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EE6E0C64-0C39-4B76-B356-D74232A9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Sprint 1 / Node.js</a:t>
            </a:r>
          </a:p>
        </p:txBody>
      </p:sp>
      <p:sp>
        <p:nvSpPr>
          <p:cNvPr id="19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4E8736EE-1FB4-4DD1-AA0C-B7DCC073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9119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7">
            <a:extLst xmlns:a="http://schemas.openxmlformats.org/drawingml/2006/main">
              <a:ext uri="{FF2B5EF4-FFF2-40B4-BE49-F238E27FC236}">
                <a16:creationId xmlns:a16="http://schemas.microsoft.com/office/drawing/2014/main" id="{A9F0825E-82DE-464F-9D7A-FF3C7BCA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0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CCD8190-593E-4622-89C7-00D1C88D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Test de l’API avec PowerShell</a:t>
            </a:r>
          </a:p>
        </p:txBody>
      </p:sp>
      <p:sp>
        <p:nvSpPr>
          <p:cNvPr id="3" name="test-intro">
            <a:extLst xmlns:a="http://schemas.openxmlformats.org/drawingml/2006/main">
              <a:ext uri="{FF2B5EF4-FFF2-40B4-BE49-F238E27FC236}">
                <a16:creationId xmlns:a16="http://schemas.microsoft.com/office/drawing/2014/main" id="{9CBD7F79-CEB5-4690-8BFE-DCC3C6DA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Le test appelle directement la route. Postman n’est pas nécessaire pour cette vérification.</a:t>
            </a:r>
          </a:p>
        </p:txBody>
      </p:sp>
      <p:sp>
        <p:nvSpPr>
          <p:cNvPr id="4" name="Windows PowerShell-panel">
            <a:extLst xmlns:a="http://schemas.openxmlformats.org/drawingml/2006/main">
              <a:ext uri="{FF2B5EF4-FFF2-40B4-BE49-F238E27FC236}">
                <a16:creationId xmlns:a16="http://schemas.microsoft.com/office/drawing/2014/main" id="{98A2AF24-819D-4969-A367-CAF96EE0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Windows PowerShell-label">
            <a:extLst xmlns:a="http://schemas.openxmlformats.org/drawingml/2006/main">
              <a:ext uri="{FF2B5EF4-FFF2-40B4-BE49-F238E27FC236}">
                <a16:creationId xmlns:a16="http://schemas.microsoft.com/office/drawing/2014/main" id="{A4CE792C-CD55-4102-AE9E-5263331D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WINDOWS POWERSHELL</a:t>
            </a:r>
          </a:p>
        </p:txBody>
      </p:sp>
      <p:sp>
        <p:nvSpPr>
          <p:cNvPr id="6" name="Windows PowerShell-separator">
            <a:extLst xmlns:a="http://schemas.openxmlformats.org/drawingml/2006/main">
              <a:ext uri="{FF2B5EF4-FFF2-40B4-BE49-F238E27FC236}">
                <a16:creationId xmlns:a16="http://schemas.microsoft.com/office/drawing/2014/main" id="{E46BA531-F395-473E-AF75-D78EE86D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Windows PowerShell-code">
            <a:extLst xmlns:a="http://schemas.openxmlformats.org/drawingml/2006/main">
              <a:ext uri="{FF2B5EF4-FFF2-40B4-BE49-F238E27FC236}">
                <a16:creationId xmlns:a16="http://schemas.microsoft.com/office/drawing/2014/main" id="{0057222B-DE2D-41C8-92B0-E90D084D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3632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PS C:\...\application_transport_devabaselog\backend&gt;</a:t>
            </a:r>
          </a:p>
          <a:p xmlns:a="http://schemas.openxmlformats.org/drawingml/2006/main">
            <a: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Invoke-RestMethod http://localhost:3000/api/health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status  message                           timestamp</a:t>
            </a:r>
          </a:p>
          <a:p xmlns:a="http://schemas.openxmlformats.org/drawingml/2006/main">
            <a: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------  -------                           ---------</a:t>
            </a:r>
          </a:p>
          <a:p xmlns:a="http://schemas.openxmlformats.org/drawingml/2006/main">
            <a:pPr algn="l">
              <a:def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CFF4D2"/>
                </a:solidFill>
                <a:latin typeface="DejaVu Sans Mono"/>
                <a:ea typeface="DejaVu Sans Mono"/>
                <a:cs typeface="DejaVu Sans Mono"/>
              </a:rPr>
              <a:t>ok      API de transport opérationnelle   2026-10-22T17:42:54.868Z</a:t>
            </a:r>
          </a:p>
        </p:txBody>
      </p:sp>
      <p:sp>
        <p:nvSpPr>
          <p:cNvPr id="8" name="check-server">
            <a:extLst xmlns:a="http://schemas.openxmlformats.org/drawingml/2006/main">
              <a:ext uri="{FF2B5EF4-FFF2-40B4-BE49-F238E27FC236}">
                <a16:creationId xmlns:a16="http://schemas.microsoft.com/office/drawing/2014/main" id="{C4147039-36C6-4D0C-AB3F-C206E03C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rPr>
              <a:t>✓  Serveur joignable</a:t>
            </a:r>
          </a:p>
        </p:txBody>
      </p:sp>
      <p:sp>
        <p:nvSpPr>
          <p:cNvPr id="9" name="check-json">
            <a:extLst xmlns:a="http://schemas.openxmlformats.org/drawingml/2006/main">
              <a:ext uri="{FF2B5EF4-FFF2-40B4-BE49-F238E27FC236}">
                <a16:creationId xmlns:a16="http://schemas.microsoft.com/office/drawing/2014/main" id="{B07E7045-D370-4167-BA13-1DE1D018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05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rPr>
              <a:t>✓  Réponse JSON valide</a:t>
            </a:r>
          </a:p>
        </p:txBody>
      </p:sp>
      <p:sp>
        <p:nvSpPr>
          <p:cNvPr id="10" name="check-audit">
            <a:extLst xmlns:a="http://schemas.openxmlformats.org/drawingml/2006/main">
              <a:ext uri="{FF2B5EF4-FFF2-40B4-BE49-F238E27FC236}">
                <a16:creationId xmlns:a16="http://schemas.microsoft.com/office/drawing/2014/main" id="{8F7FE2D1-9FFF-4A65-B30F-F5501C4D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054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7DCE82"/>
                </a:solidFill>
                <a:latin typeface="DejaVu Sans"/>
                <a:ea typeface="DejaVu Sans"/>
                <a:cs typeface="DejaVu Sans"/>
              </a:rPr>
              <a:t>✓  npm audit : 0 vulnérabilité</a:t>
            </a:r>
          </a:p>
        </p:txBody>
      </p:sp>
      <p:sp>
        <p:nvSpPr>
          <p:cNvPr id="11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DB8A5FB8-A693-4F85-AD3D-134A93E9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EDDEA0ED-684B-4545-9612-5B4007CC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Sprint 1 / Node.js</a:t>
            </a:r>
          </a:p>
        </p:txBody>
      </p:sp>
      <p:sp>
        <p:nvSpPr>
          <p:cNvPr id="13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85272539-C529-4ED2-A321-553CEC56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761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8">
            <a:extLst xmlns:a="http://schemas.openxmlformats.org/drawingml/2006/main">
              <a:ext uri="{FF2B5EF4-FFF2-40B4-BE49-F238E27FC236}">
                <a16:creationId xmlns:a16="http://schemas.microsoft.com/office/drawing/2014/main" id="{827D3239-A047-40FB-9087-0306D239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0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1520F2B-A7C7-4D17-96CE-340654DA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Bilan du Sprint 1</a:t>
            </a:r>
          </a:p>
        </p:txBody>
      </p:sp>
      <p:sp>
        <p:nvSpPr>
          <p:cNvPr id="3" name="done-heading">
            <a:extLst xmlns:a="http://schemas.openxmlformats.org/drawingml/2006/main">
              <a:ext uri="{FF2B5EF4-FFF2-40B4-BE49-F238E27FC236}">
                <a16:creationId xmlns:a16="http://schemas.microsoft.com/office/drawing/2014/main" id="{B1216734-6414-45E6-9452-A0690CDB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Réalisé</a:t>
            </a:r>
          </a:p>
        </p:txBody>
      </p:sp>
      <p:sp>
        <p:nvSpPr>
          <p:cNvPr id="4" name="done-list">
            <a:extLst xmlns:a="http://schemas.openxmlformats.org/drawingml/2006/main">
              <a:ext uri="{FF2B5EF4-FFF2-40B4-BE49-F238E27FC236}">
                <a16:creationId xmlns:a16="http://schemas.microsoft.com/office/drawing/2014/main" id="{E7E99B21-4B39-49D9-92D9-B4D3B6D3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Branche sprint-1-nodejs créée et publiée sur GitHub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Backend Node.js et Express initialisé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Route GET /api/health fonctionnelle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Test PowerShell concluant et audit npm propre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Présentation synthétique de Node.js produite</a:t>
            </a:r>
          </a:p>
        </p:txBody>
      </p:sp>
      <p:sp>
        <p:nvSpPr>
          <p:cNvPr id="5" name="summary-divider">
            <a:extLst xmlns:a="http://schemas.openxmlformats.org/drawingml/2006/main">
              <a:ext uri="{FF2B5EF4-FFF2-40B4-BE49-F238E27FC236}">
                <a16:creationId xmlns:a16="http://schemas.microsoft.com/office/drawing/2014/main" id="{B4626CF6-0D3E-4D52-9560-62EF55FB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62100"/>
            <a:ext cx="0" cy="384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6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E6180A10-2E19-4D63-9B07-8E09AA88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621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Suite Scrum</a:t>
            </a:r>
          </a:p>
        </p:txBody>
      </p:sp>
      <p:sp>
        <p:nvSpPr>
          <p:cNvPr id="7" name="next-1-number">
            <a:extLst xmlns:a="http://schemas.openxmlformats.org/drawingml/2006/main">
              <a:ext uri="{FF2B5EF4-FFF2-40B4-BE49-F238E27FC236}">
                <a16:creationId xmlns:a16="http://schemas.microsoft.com/office/drawing/2014/main" id="{1D9BD1C3-B1A7-4211-8BC9-6F440CBC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050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8" name="next-1">
            <a:extLst xmlns:a="http://schemas.openxmlformats.org/drawingml/2006/main">
              <a:ext uri="{FF2B5EF4-FFF2-40B4-BE49-F238E27FC236}">
                <a16:creationId xmlns:a16="http://schemas.microsoft.com/office/drawing/2014/main" id="{AA2F2515-A234-457E-B197-D4B2BD1A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Ajouter la présentation et la documentation au dépôt.</a:t>
            </a:r>
          </a:p>
        </p:txBody>
      </p:sp>
      <p:sp>
        <p:nvSpPr>
          <p:cNvPr id="9" name="next-2-number">
            <a:extLst xmlns:a="http://schemas.openxmlformats.org/drawingml/2006/main">
              <a:ext uri="{FF2B5EF4-FFF2-40B4-BE49-F238E27FC236}">
                <a16:creationId xmlns:a16="http://schemas.microsoft.com/office/drawing/2014/main" id="{5464C751-9B1A-40F0-8BC8-93A173FA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rPr>
              <a:t>2</a:t>
            </a:r>
          </a:p>
        </p:txBody>
      </p:sp>
      <p:sp>
        <p:nvSpPr>
          <p:cNvPr id="10" name="next-2">
            <a:extLst xmlns:a="http://schemas.openxmlformats.org/drawingml/2006/main">
              <a:ext uri="{FF2B5EF4-FFF2-40B4-BE49-F238E27FC236}">
                <a16:creationId xmlns:a16="http://schemas.microsoft.com/office/drawing/2014/main" id="{835BA5A2-276E-4A07-A657-08182A3E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Compléter la Sprint Review et la rétrospective.</a:t>
            </a:r>
          </a:p>
        </p:txBody>
      </p:sp>
      <p:sp>
        <p:nvSpPr>
          <p:cNvPr id="11" name="next-3-number">
            <a:extLst xmlns:a="http://schemas.openxmlformats.org/drawingml/2006/main">
              <a:ext uri="{FF2B5EF4-FFF2-40B4-BE49-F238E27FC236}">
                <a16:creationId xmlns:a16="http://schemas.microsoft.com/office/drawing/2014/main" id="{944A8A10-A697-4695-ABD5-F1B0C315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719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 i="0">
                <a:solidFill>
                  <a:srgbClr val="86C77F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12" name="next-3">
            <a:extLst xmlns:a="http://schemas.openxmlformats.org/drawingml/2006/main">
              <a:ext uri="{FF2B5EF4-FFF2-40B4-BE49-F238E27FC236}">
                <a16:creationId xmlns:a16="http://schemas.microsoft.com/office/drawing/2014/main" id="{839C3323-CB78-4815-B925-8F3AAE37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2E8F0"/>
                </a:solidFill>
                <a:latin typeface="DejaVu Sans"/>
                <a:ea typeface="DejaVu Sans"/>
                <a:cs typeface="DejaVu Sans"/>
              </a:rPr>
              <a:t>Préparer l’UML et la base PostgreSQL sur la VM Ubuntu.</a:t>
            </a:r>
          </a:p>
        </p:txBody>
      </p:sp>
      <p:sp>
        <p:nvSpPr>
          <p:cNvPr id="13" name="git-state">
            <a:extLst xmlns:a="http://schemas.openxmlformats.org/drawingml/2006/main">
              <a:ext uri="{FF2B5EF4-FFF2-40B4-BE49-F238E27FC236}">
                <a16:creationId xmlns:a16="http://schemas.microsoft.com/office/drawing/2014/main" id="{03F27EE0-BE41-4CD3-9F19-7C5BA029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defPPr>
            <a:lvl1pPr algn="ctr">
              <a:defRPr sz="1275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1pPr>
            <a:lvl2pPr algn="ctr">
              <a:defRPr sz="1275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2pPr>
            <a:lvl3pPr algn="ctr">
              <a:defRPr sz="1275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3pPr>
            <a:lvl4pPr algn="ctr">
              <a:defRPr sz="1275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4pPr>
            <a:lvl5pPr algn="ctr">
              <a:defRPr sz="1275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5pPr>
            <a:lvl6pPr algn="ctr">
              <a:defRPr sz="1275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6pPr>
            <a:lvl7pPr algn="ctr">
              <a:defRPr sz="1275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7pPr>
            <a:lvl8pPr algn="ctr">
              <a:defRPr sz="1275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8pPr>
            <a:lvl9pPr algn="ctr">
              <a:defRPr sz="1275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ctr">
              <a:defRPr sz="1275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94A3B8"/>
                </a:solidFill>
                <a:latin typeface="DejaVu Sans Mono"/>
                <a:ea typeface="DejaVu Sans Mono"/>
                <a:cs typeface="DejaVu Sans Mono"/>
              </a:rPr>
              <a:t>sprint-1-nodejs / commit 28e9f2a / dépôt propre</a:t>
            </a:r>
          </a:p>
        </p:txBody>
      </p:sp>
      <p:sp>
        <p:nvSpPr>
          <p:cNvPr id="14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7E9B3770-A5DD-4541-A004-488AB785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87B66AC-7B2F-4829-B606-59C85933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Sprint 1 / Node.js</a:t>
            </a:r>
          </a:p>
        </p:txBody>
      </p:sp>
      <p:sp>
        <p:nvSpPr>
          <p:cNvPr id="16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FC1E31B5-1893-4691-9C4B-B6AAB10D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86C77F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4072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2026-10-22T18:02:08.9010000Z</dcterms:created>
  <dcterms:modified xsi:type="dcterms:W3CDTF">2026-10-22T18:02:08.9010000Z</dcterms:modified>
</coreProperties>
</file>